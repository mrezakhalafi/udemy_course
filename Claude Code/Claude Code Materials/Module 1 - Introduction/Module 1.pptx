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4241" r:id="rId2"/>
    <p:sldId id="568" r:id="rId3"/>
    <p:sldId id="4245" r:id="rId4"/>
    <p:sldId id="4247" r:id="rId5"/>
    <p:sldId id="4246" r:id="rId6"/>
    <p:sldId id="572" r:id="rId7"/>
    <p:sldId id="4242" r:id="rId8"/>
    <p:sldId id="574" r:id="rId9"/>
    <p:sldId id="575" r:id="rId10"/>
    <p:sldId id="576" r:id="rId11"/>
    <p:sldId id="4249" r:id="rId12"/>
    <p:sldId id="4238" r:id="rId13"/>
    <p:sldId id="4244" r:id="rId14"/>
    <p:sldId id="4248" r:id="rId15"/>
    <p:sldId id="4239" r:id="rId16"/>
    <p:sldId id="424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4505"/>
    <a:srgbClr val="0C1752"/>
    <a:srgbClr val="D56E48"/>
    <a:srgbClr val="F9F9F9"/>
    <a:srgbClr val="11CCDD"/>
    <a:srgbClr val="1BBFD1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721"/>
  </p:normalViewPr>
  <p:slideViewPr>
    <p:cSldViewPr snapToGrid="0" snapToObjects="1">
      <p:cViewPr varScale="1">
        <p:scale>
          <a:sx n="118" d="100"/>
          <a:sy n="118" d="100"/>
        </p:scale>
        <p:origin x="12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e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dr-ryan-ahmed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hyperlink" Target="https://metr.org/blog/2025-03-19-measuring-ai-ability-to-complete-long-tasks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png"/><Relationship Id="rId4" Type="http://schemas.openxmlformats.org/officeDocument/2006/relationships/hyperlink" Target="https://www.anthropic.com/research/labor-market-impacts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134842" y="394332"/>
            <a:ext cx="487573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</a:rPr>
              <a:t>MASTERING CLAUDE CODE</a:t>
            </a:r>
            <a:endParaRPr lang="en-US" sz="4000" b="1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608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210BA7-83D5-BA28-4169-3E936CE31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5E0EF4-240B-8B5B-8335-CAC6327B85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BEFE33B-7EE9-7BFB-A39F-0F81915A5525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Instructor 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F4BF6C-937D-3A93-9865-C5DE26F44C25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61" name="Google Shape;118;p3">
            <a:extLst>
              <a:ext uri="{FF2B5EF4-FFF2-40B4-BE49-F238E27FC236}">
                <a16:creationId xmlns:a16="http://schemas.microsoft.com/office/drawing/2014/main" id="{39877849-A867-54E4-6BC0-D81DC4FAE97C}"/>
              </a:ext>
            </a:extLst>
          </p:cNvPr>
          <p:cNvSpPr txBox="1"/>
          <p:nvPr/>
        </p:nvSpPr>
        <p:spPr>
          <a:xfrm>
            <a:off x="4241279" y="3428160"/>
            <a:ext cx="3231918" cy="869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5" rIns="0" bIns="60955" anchor="ctr" anchorCtr="0">
            <a:spAutoFit/>
          </a:bodyPr>
          <a:lstStyle/>
          <a:p>
            <a:pPr marL="0" lvl="4" algn="ctr" defTabSz="609630">
              <a:lnSpc>
                <a:spcPct val="130000"/>
              </a:lnSpc>
              <a:buClr>
                <a:srgbClr val="E7E6E6"/>
              </a:buClr>
              <a:buSzPts val="2700"/>
            </a:pPr>
            <a:r>
              <a:rPr lang="en-US" sz="2133" b="1" kern="0" dirty="0">
                <a:solidFill>
                  <a:srgbClr val="1E3D53"/>
                </a:solidFill>
                <a:latin typeface="Arial"/>
                <a:ea typeface="Arial"/>
                <a:cs typeface="Arial"/>
                <a:sym typeface="Arial"/>
              </a:rPr>
              <a:t>Dr. Ryan Ahmed</a:t>
            </a:r>
            <a:br>
              <a:rPr lang="en-US" sz="1200" b="1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kern="0" dirty="0">
                <a:solidFill>
                  <a:srgbClr val="0B8ECC"/>
                </a:solidFill>
                <a:latin typeface="Arial"/>
                <a:ea typeface="Arial"/>
                <a:cs typeface="Arial"/>
                <a:sym typeface="Arial"/>
              </a:rPr>
              <a:t>Professor &amp; Best-selling Instructor</a:t>
            </a: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65" name="Picture 2" descr="Online Courses - Learn Anything, On Your Schedule | Udemy">
            <a:extLst>
              <a:ext uri="{FF2B5EF4-FFF2-40B4-BE49-F238E27FC236}">
                <a16:creationId xmlns:a16="http://schemas.microsoft.com/office/drawing/2014/main" id="{E87A9148-1622-44BF-8503-E57923760E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96" b="24378"/>
          <a:stretch/>
        </p:blipFill>
        <p:spPr bwMode="auto">
          <a:xfrm>
            <a:off x="8928050" y="907669"/>
            <a:ext cx="2613324" cy="75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Google Shape;122;p3">
            <a:extLst>
              <a:ext uri="{FF2B5EF4-FFF2-40B4-BE49-F238E27FC236}">
                <a16:creationId xmlns:a16="http://schemas.microsoft.com/office/drawing/2014/main" id="{87D0E693-CDAE-A302-1BA0-07CDA1095081}"/>
              </a:ext>
            </a:extLst>
          </p:cNvPr>
          <p:cNvSpPr txBox="1"/>
          <p:nvPr/>
        </p:nvSpPr>
        <p:spPr>
          <a:xfrm>
            <a:off x="9199507" y="1890725"/>
            <a:ext cx="2428976" cy="45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8" rIns="0" bIns="0" anchor="t" anchorCtr="0">
            <a:spAutoFit/>
          </a:bodyPr>
          <a:lstStyle>
            <a:defPPr>
              <a:defRPr lang="en-US"/>
            </a:defPPr>
            <a:lvl1pPr defTabSz="914400">
              <a:lnSpc>
                <a:spcPct val="130000"/>
              </a:lnSpc>
              <a:buClr>
                <a:srgbClr val="0B8ECC"/>
              </a:buClr>
              <a:buSzPts val="1600"/>
              <a:buFont typeface="Arial"/>
              <a:buNone/>
              <a:defRPr sz="2800" i="1" kern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US" sz="1867" dirty="0">
                <a:sym typeface="Arial"/>
              </a:rPr>
              <a:t>550,000+ Students</a:t>
            </a:r>
          </a:p>
        </p:txBody>
      </p:sp>
      <p:sp>
        <p:nvSpPr>
          <p:cNvPr id="68" name="Google Shape;122;p3">
            <a:extLst>
              <a:ext uri="{FF2B5EF4-FFF2-40B4-BE49-F238E27FC236}">
                <a16:creationId xmlns:a16="http://schemas.microsoft.com/office/drawing/2014/main" id="{80183A4A-F647-F343-6008-19727DBBB4E4}"/>
              </a:ext>
            </a:extLst>
          </p:cNvPr>
          <p:cNvSpPr txBox="1"/>
          <p:nvPr/>
        </p:nvSpPr>
        <p:spPr>
          <a:xfrm>
            <a:off x="8805206" y="2909542"/>
            <a:ext cx="2936865" cy="45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8" rIns="0" bIns="0" anchor="t" anchorCtr="0">
            <a:spAutoFit/>
          </a:bodyPr>
          <a:lstStyle>
            <a:defPPr>
              <a:defRPr lang="en-US"/>
            </a:defPPr>
            <a:lvl1pPr defTabSz="914400">
              <a:lnSpc>
                <a:spcPct val="130000"/>
              </a:lnSpc>
              <a:buClr>
                <a:srgbClr val="0B8ECC"/>
              </a:buClr>
              <a:buSzPts val="1600"/>
              <a:buFont typeface="Arial"/>
              <a:buNone/>
              <a:defRPr sz="2800" i="1" kern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sz="1867" dirty="0">
                <a:sym typeface="Arial"/>
              </a:rPr>
              <a:t>260,000+ Subs, 4M views</a:t>
            </a:r>
          </a:p>
        </p:txBody>
      </p:sp>
      <p:pic>
        <p:nvPicPr>
          <p:cNvPr id="69" name="Picture 12" descr="The YouTube logo: a history | Creative Bloq">
            <a:extLst>
              <a:ext uri="{FF2B5EF4-FFF2-40B4-BE49-F238E27FC236}">
                <a16:creationId xmlns:a16="http://schemas.microsoft.com/office/drawing/2014/main" id="{CC958130-E2AC-1602-4EE2-971B655B3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5191" y="2109799"/>
            <a:ext cx="2243227" cy="1259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F3C4D6F9-84AF-81CE-464F-95921098EE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481" y="1269912"/>
            <a:ext cx="1881775" cy="1040511"/>
          </a:xfrm>
          <a:prstGeom prst="rect">
            <a:avLst/>
          </a:prstGeom>
        </p:spPr>
      </p:pic>
      <p:sp>
        <p:nvSpPr>
          <p:cNvPr id="72" name="Google Shape;122;p3">
            <a:extLst>
              <a:ext uri="{FF2B5EF4-FFF2-40B4-BE49-F238E27FC236}">
                <a16:creationId xmlns:a16="http://schemas.microsoft.com/office/drawing/2014/main" id="{AE7F32BA-4360-0626-E95A-0D7C95BD013C}"/>
              </a:ext>
            </a:extLst>
          </p:cNvPr>
          <p:cNvSpPr txBox="1"/>
          <p:nvPr/>
        </p:nvSpPr>
        <p:spPr>
          <a:xfrm>
            <a:off x="998672" y="2165873"/>
            <a:ext cx="2474384" cy="45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8" rIns="0" bIns="0" anchor="t" anchorCtr="0">
            <a:spAutoFit/>
          </a:bodyPr>
          <a:lstStyle/>
          <a:p>
            <a:pPr defTabSz="609630">
              <a:lnSpc>
                <a:spcPct val="130000"/>
              </a:lnSpc>
              <a:buClr>
                <a:srgbClr val="0B8ECC"/>
              </a:buClr>
              <a:buSzPts val="1600"/>
            </a:pPr>
            <a:r>
              <a:rPr lang="en-US" sz="1867" i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M.A.Sc., Ph.D., MBA</a:t>
            </a:r>
            <a:endParaRPr lang="en-US" sz="1867" i="1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Picture 16" descr="General Motors | Detroit MI">
            <a:extLst>
              <a:ext uri="{FF2B5EF4-FFF2-40B4-BE49-F238E27FC236}">
                <a16:creationId xmlns:a16="http://schemas.microsoft.com/office/drawing/2014/main" id="{01014111-1951-DC70-C40C-CB0F9EE6C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737" y="3001680"/>
            <a:ext cx="1031452" cy="1031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20" descr="Logo | Brand Identity | About Us | Samsung Canada">
            <a:extLst>
              <a:ext uri="{FF2B5EF4-FFF2-40B4-BE49-F238E27FC236}">
                <a16:creationId xmlns:a16="http://schemas.microsoft.com/office/drawing/2014/main" id="{9F4FE486-4BF9-75E8-CD51-BC88F1FBB2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83" b="29688"/>
          <a:stretch/>
        </p:blipFill>
        <p:spPr bwMode="auto">
          <a:xfrm>
            <a:off x="491297" y="3752685"/>
            <a:ext cx="2882335" cy="68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Google Shape;122;p3">
            <a:extLst>
              <a:ext uri="{FF2B5EF4-FFF2-40B4-BE49-F238E27FC236}">
                <a16:creationId xmlns:a16="http://schemas.microsoft.com/office/drawing/2014/main" id="{562261BF-772D-BAE6-DD07-DDF06E3169FB}"/>
              </a:ext>
            </a:extLst>
          </p:cNvPr>
          <p:cNvSpPr txBox="1"/>
          <p:nvPr/>
        </p:nvSpPr>
        <p:spPr>
          <a:xfrm>
            <a:off x="571906" y="4161337"/>
            <a:ext cx="2473681" cy="45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8" rIns="0" bIns="0" anchor="t" anchorCtr="0">
            <a:spAutoFit/>
          </a:bodyPr>
          <a:lstStyle>
            <a:defPPr>
              <a:defRPr lang="en-US"/>
            </a:defPPr>
            <a:lvl1pPr defTabSz="914400">
              <a:lnSpc>
                <a:spcPct val="130000"/>
              </a:lnSpc>
              <a:buClr>
                <a:srgbClr val="0B8ECC"/>
              </a:buClr>
              <a:buSzPts val="1600"/>
              <a:buFont typeface="Arial"/>
              <a:buNone/>
              <a:defRPr sz="2800" i="1" kern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pPr algn="ctr"/>
            <a:r>
              <a:rPr lang="en-US" sz="1867" dirty="0">
                <a:sym typeface="Arial"/>
              </a:rPr>
              <a:t>AI &amp; EV/AV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46DE5C-E26F-0BE2-6157-31BE0FC1D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035" y="1680930"/>
            <a:ext cx="1651354" cy="233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5336DA-E533-78E9-7EDA-E16E1EEC0D8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1875" r="21875"/>
          <a:stretch/>
        </p:blipFill>
        <p:spPr>
          <a:xfrm>
            <a:off x="4763346" y="1460457"/>
            <a:ext cx="1967703" cy="1967703"/>
          </a:xfrm>
          <a:prstGeom prst="ellipse">
            <a:avLst/>
          </a:prstGeom>
          <a:ln w="28575">
            <a:solidFill>
              <a:schemeClr val="tx1"/>
            </a:solidFill>
          </a:ln>
        </p:spPr>
      </p:pic>
      <p:pic>
        <p:nvPicPr>
          <p:cNvPr id="2" name="Picture 2" descr="CF Markville | HSBC">
            <a:extLst>
              <a:ext uri="{FF2B5EF4-FFF2-40B4-BE49-F238E27FC236}">
                <a16:creationId xmlns:a16="http://schemas.microsoft.com/office/drawing/2014/main" id="{9C185987-D13D-1D05-A63E-91ACB209C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732" y="3687141"/>
            <a:ext cx="1142505" cy="642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RBC">
            <a:extLst>
              <a:ext uri="{FF2B5EF4-FFF2-40B4-BE49-F238E27FC236}">
                <a16:creationId xmlns:a16="http://schemas.microsoft.com/office/drawing/2014/main" id="{F92C4CE3-2A0C-C283-A95E-B2938E16F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188" y="4373291"/>
            <a:ext cx="471775" cy="4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 descr="Discover Bank Review">
            <a:extLst>
              <a:ext uri="{FF2B5EF4-FFF2-40B4-BE49-F238E27FC236}">
                <a16:creationId xmlns:a16="http://schemas.microsoft.com/office/drawing/2014/main" id="{79344D8D-27D3-B240-50E8-AD53B4333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1967" y="3645719"/>
            <a:ext cx="1279103" cy="639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Lowe's Home Improvement">
            <a:extLst>
              <a:ext uri="{FF2B5EF4-FFF2-40B4-BE49-F238E27FC236}">
                <a16:creationId xmlns:a16="http://schemas.microsoft.com/office/drawing/2014/main" id="{F7BB6598-4016-3D15-74D9-81F55E67D1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30" r="18250"/>
          <a:stretch/>
        </p:blipFill>
        <p:spPr bwMode="auto">
          <a:xfrm>
            <a:off x="9882045" y="3564815"/>
            <a:ext cx="940562" cy="77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LobbyMap Barclays">
            <a:extLst>
              <a:ext uri="{FF2B5EF4-FFF2-40B4-BE49-F238E27FC236}">
                <a16:creationId xmlns:a16="http://schemas.microsoft.com/office/drawing/2014/main" id="{932B951F-7DA0-8567-FED2-E7EF1137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9964" y="4297600"/>
            <a:ext cx="1361830" cy="68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CFA Institute">
            <a:extLst>
              <a:ext uri="{FF2B5EF4-FFF2-40B4-BE49-F238E27FC236}">
                <a16:creationId xmlns:a16="http://schemas.microsoft.com/office/drawing/2014/main" id="{9B3045E8-7347-03B7-215A-44958DEB7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3713" y="4285271"/>
            <a:ext cx="1142505" cy="59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928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33040-BFEA-BAB3-7206-96F521EF7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E55C53-88EE-A5FC-98C1-67CFE1959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-46365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20E75B-38F3-FF9F-D8B7-F52838C68F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37AA09C4-10D9-03BC-34DE-8838AF0EFCF3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AI Agents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FCFE13-B6F1-6ED0-D02F-E227713EFB4C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2BB5E6A-2188-2A27-926C-39A3C8AE3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5D4EC0-B5C8-22A2-0B44-A6B9D793E5C8}"/>
              </a:ext>
            </a:extLst>
          </p:cNvPr>
          <p:cNvSpPr txBox="1"/>
          <p:nvPr/>
        </p:nvSpPr>
        <p:spPr>
          <a:xfrm>
            <a:off x="191887" y="749823"/>
            <a:ext cx="12026564" cy="147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304792" indent="-304792" defTabSz="1219170">
              <a:spcBef>
                <a:spcPts val="1333"/>
              </a:spcBef>
              <a:buClr>
                <a:srgbClr val="022911"/>
              </a:buClr>
            </a:pPr>
            <a:r>
              <a:rPr lang="en-US" kern="0" dirty="0">
                <a:solidFill>
                  <a:srgbClr val="000000"/>
                </a:solidFill>
                <a:cs typeface="Arial"/>
                <a:sym typeface="Arial"/>
              </a:rPr>
              <a:t>AI agents are intelligent systems that take a goal, plan the steps, and autonomously execute them using tools &amp; knowledge with minimal human input. </a:t>
            </a:r>
            <a:endParaRPr lang="en-CA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A43DD3-0090-828C-16C2-5B5697A28BAB}"/>
              </a:ext>
            </a:extLst>
          </p:cNvPr>
          <p:cNvCxnSpPr>
            <a:cxnSpLocks/>
          </p:cNvCxnSpPr>
          <p:nvPr/>
        </p:nvCxnSpPr>
        <p:spPr>
          <a:xfrm>
            <a:off x="2530984" y="3525852"/>
            <a:ext cx="802640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E584BE1-0D11-AD72-7D73-563DA591A9A7}"/>
              </a:ext>
            </a:extLst>
          </p:cNvPr>
          <p:cNvSpPr txBox="1"/>
          <p:nvPr/>
        </p:nvSpPr>
        <p:spPr>
          <a:xfrm>
            <a:off x="99679" y="2746871"/>
            <a:ext cx="3159261" cy="1898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CA" sz="1467" b="1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Input</a:t>
            </a:r>
          </a:p>
          <a:p>
            <a:pPr defTabSz="1219170">
              <a:buClr>
                <a:srgbClr val="000000"/>
              </a:buClr>
            </a:pPr>
            <a:r>
              <a:rPr lang="en-CA" sz="1467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Analyze Tesla (TSLA) &amp; Build a website</a:t>
            </a:r>
          </a:p>
          <a:p>
            <a:pPr defTabSz="1219170">
              <a:buClr>
                <a:srgbClr val="000000"/>
              </a:buClr>
            </a:pPr>
            <a:endParaRPr lang="en-CA" sz="1467" kern="0" dirty="0">
              <a:solidFill>
                <a:srgbClr val="000000"/>
              </a:solidFill>
              <a:latin typeface="Montserrat" panose="00000500000000000000" pitchFamily="2" charset="0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CA" sz="1467" b="1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Agent Teams</a:t>
            </a:r>
          </a:p>
          <a:p>
            <a:pPr marL="228594" lvl="2" indent="-228594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CA" sz="1467" b="1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Researcher: </a:t>
            </a:r>
            <a:r>
              <a:rPr lang="en-CA" sz="1467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price + 3 news</a:t>
            </a:r>
          </a:p>
          <a:p>
            <a:pPr marL="228594" lvl="2" indent="-228594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CA" sz="1467" b="1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Analyst: </a:t>
            </a:r>
            <a:r>
              <a:rPr lang="en-CA" sz="1467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drivers &amp; verdict</a:t>
            </a:r>
          </a:p>
          <a:p>
            <a:pPr marL="228594" lvl="2" indent="-228594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CA" sz="1467" b="1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Developer: </a:t>
            </a:r>
            <a:r>
              <a:rPr lang="en-CA" sz="1467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Build a website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5F21F9-B5E4-C4F0-0524-CAFF5FAB9F3E}"/>
              </a:ext>
            </a:extLst>
          </p:cNvPr>
          <p:cNvSpPr txBox="1"/>
          <p:nvPr/>
        </p:nvSpPr>
        <p:spPr>
          <a:xfrm>
            <a:off x="3565204" y="3650651"/>
            <a:ext cx="1460656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/>
            <a:r>
              <a:rPr lang="en-CA" sz="2133" i="1" dirty="0">
                <a:solidFill>
                  <a:prstClr val="black"/>
                </a:solidFill>
                <a:latin typeface="Montserrat" panose="00000500000000000000" pitchFamily="2" charset="0"/>
                <a:cs typeface="Arial"/>
                <a:sym typeface="Arial"/>
              </a:rPr>
              <a:t>Planning</a:t>
            </a:r>
            <a:endParaRPr lang="en-CA" sz="1333" i="1" dirty="0">
              <a:solidFill>
                <a:prstClr val="black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9CB83C-C9A1-6248-AD78-B87323D80DD5}"/>
              </a:ext>
            </a:extLst>
          </p:cNvPr>
          <p:cNvSpPr txBox="1"/>
          <p:nvPr/>
        </p:nvSpPr>
        <p:spPr>
          <a:xfrm>
            <a:off x="5506241" y="3983637"/>
            <a:ext cx="1329210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/>
            <a:r>
              <a:rPr lang="en-CA" sz="2133" i="1" dirty="0">
                <a:solidFill>
                  <a:prstClr val="black"/>
                </a:solidFill>
                <a:latin typeface="Montserrat" panose="00000500000000000000" pitchFamily="2" charset="0"/>
                <a:cs typeface="Arial"/>
                <a:sym typeface="Arial"/>
              </a:rPr>
              <a:t>Memory</a:t>
            </a:r>
            <a:endParaRPr lang="en-CA" sz="1333" i="1" dirty="0">
              <a:solidFill>
                <a:prstClr val="black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29857588-652F-C3AB-D79B-0FC4BAA50F3D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71350" y="2746871"/>
            <a:ext cx="1834309" cy="995507"/>
          </a:xfrm>
          <a:prstGeom prst="curvedConnector2">
            <a:avLst/>
          </a:prstGeom>
          <a:ln w="57150">
            <a:solidFill>
              <a:srgbClr val="0229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D04D25B8-11AB-25D5-5116-D29FD4C9D304}"/>
              </a:ext>
            </a:extLst>
          </p:cNvPr>
          <p:cNvCxnSpPr>
            <a:cxnSpLocks/>
          </p:cNvCxnSpPr>
          <p:nvPr/>
        </p:nvCxnSpPr>
        <p:spPr>
          <a:xfrm rot="16200000" flipV="1">
            <a:off x="6306739" y="1973772"/>
            <a:ext cx="1226688" cy="2475960"/>
          </a:xfrm>
          <a:prstGeom prst="curvedConnector2">
            <a:avLst/>
          </a:prstGeom>
          <a:ln w="57150">
            <a:solidFill>
              <a:srgbClr val="0229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163207B-48E8-C0DE-09A3-8A8318C8F50B}"/>
              </a:ext>
            </a:extLst>
          </p:cNvPr>
          <p:cNvCxnSpPr>
            <a:cxnSpLocks/>
          </p:cNvCxnSpPr>
          <p:nvPr/>
        </p:nvCxnSpPr>
        <p:spPr>
          <a:xfrm>
            <a:off x="6181408" y="3326483"/>
            <a:ext cx="0" cy="720919"/>
          </a:xfrm>
          <a:prstGeom prst="line">
            <a:avLst/>
          </a:prstGeom>
          <a:ln w="57150">
            <a:solidFill>
              <a:srgbClr val="0229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6" descr="Generated image">
            <a:extLst>
              <a:ext uri="{FF2B5EF4-FFF2-40B4-BE49-F238E27FC236}">
                <a16:creationId xmlns:a16="http://schemas.microsoft.com/office/drawing/2014/main" id="{BF5AAA5F-2179-E58F-4171-7D0670911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69" y="4251738"/>
            <a:ext cx="1494841" cy="1494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Generated image">
            <a:extLst>
              <a:ext uri="{FF2B5EF4-FFF2-40B4-BE49-F238E27FC236}">
                <a16:creationId xmlns:a16="http://schemas.microsoft.com/office/drawing/2014/main" id="{02A1B06A-7E2C-C7E2-596D-3E9FFFB1D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EFEFD"/>
              </a:clrFrom>
              <a:clrTo>
                <a:srgbClr val="FE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380" y="4194223"/>
            <a:ext cx="1611419" cy="161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2E5EFEE-3B58-C8FD-35F3-B4CF15A5A494}"/>
              </a:ext>
            </a:extLst>
          </p:cNvPr>
          <p:cNvSpPr/>
          <p:nvPr/>
        </p:nvSpPr>
        <p:spPr>
          <a:xfrm>
            <a:off x="5035529" y="2385692"/>
            <a:ext cx="2219851" cy="117619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CA" sz="3200" i="1" dirty="0">
              <a:solidFill>
                <a:prstClr val="white"/>
              </a:solidFill>
              <a:latin typeface="Montserrat" panose="00000500000000000000" pitchFamily="2" charset="0"/>
              <a:sym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CEB285-70F5-D7E3-A055-F1B3E92C2AA8}"/>
              </a:ext>
            </a:extLst>
          </p:cNvPr>
          <p:cNvSpPr txBox="1"/>
          <p:nvPr/>
        </p:nvSpPr>
        <p:spPr>
          <a:xfrm>
            <a:off x="6934322" y="3772469"/>
            <a:ext cx="2270725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CA" sz="2133" i="1" dirty="0">
                <a:solidFill>
                  <a:prstClr val="black"/>
                </a:solidFill>
                <a:latin typeface="Montserrat" panose="00000500000000000000" pitchFamily="2" charset="0"/>
                <a:cs typeface="Arial"/>
                <a:sym typeface="Arial"/>
              </a:rPr>
              <a:t>Tools, Skills, Plugins</a:t>
            </a:r>
            <a:endParaRPr lang="en-CA" sz="1333" i="1" dirty="0">
              <a:solidFill>
                <a:prstClr val="black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54B7011-971A-62FC-A671-F480EBA6A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679" y="4047401"/>
            <a:ext cx="1309568" cy="130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3FA6D0F-9D6D-FF75-9281-E72EFAE1EC2B}"/>
              </a:ext>
            </a:extLst>
          </p:cNvPr>
          <p:cNvSpPr/>
          <p:nvPr/>
        </p:nvSpPr>
        <p:spPr>
          <a:xfrm>
            <a:off x="3554909" y="1744303"/>
            <a:ext cx="5384931" cy="4073656"/>
          </a:xfrm>
          <a:prstGeom prst="roundRect">
            <a:avLst/>
          </a:prstGeom>
          <a:noFill/>
          <a:ln w="57150">
            <a:solidFill>
              <a:srgbClr val="022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CA" dirty="0">
              <a:solidFill>
                <a:prstClr val="white"/>
              </a:solidFill>
              <a:latin typeface="Calibri" panose="020F0502020204030204"/>
              <a:sym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30A077-9511-B1EE-800A-74DB2A58F8FF}"/>
              </a:ext>
            </a:extLst>
          </p:cNvPr>
          <p:cNvSpPr txBox="1"/>
          <p:nvPr/>
        </p:nvSpPr>
        <p:spPr>
          <a:xfrm>
            <a:off x="3770970" y="1805061"/>
            <a:ext cx="3453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/>
            <a:r>
              <a:rPr lang="en-CA" sz="3200" b="1" dirty="0">
                <a:solidFill>
                  <a:prstClr val="black"/>
                </a:solidFill>
                <a:latin typeface="Montserrat" panose="00000500000000000000" pitchFamily="2" charset="0"/>
                <a:cs typeface="Arial"/>
                <a:sym typeface="Arial"/>
              </a:rPr>
              <a:t>AI Agent(s)</a:t>
            </a:r>
            <a:endParaRPr lang="en-CA" b="1" dirty="0">
              <a:solidFill>
                <a:prstClr val="black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11EF2AE-EE23-43C3-2AF8-6E7955BBFED0}"/>
              </a:ext>
            </a:extLst>
          </p:cNvPr>
          <p:cNvCxnSpPr>
            <a:cxnSpLocks/>
          </p:cNvCxnSpPr>
          <p:nvPr/>
        </p:nvCxnSpPr>
        <p:spPr>
          <a:xfrm>
            <a:off x="9058098" y="3439492"/>
            <a:ext cx="868223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E660EDAB-ED80-96E9-6A97-24B5679C030F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24109" r="21455"/>
          <a:stretch>
            <a:fillRect/>
          </a:stretch>
        </p:blipFill>
        <p:spPr>
          <a:xfrm>
            <a:off x="9785031" y="2128877"/>
            <a:ext cx="2340239" cy="28660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79DD84-53AC-67C1-B120-0E2F5EFD07E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141414"/>
              </a:clrFrom>
              <a:clrTo>
                <a:srgbClr val="141414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15027" y="2504504"/>
            <a:ext cx="1767141" cy="91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5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  <p:bldP spid="23" grpId="0"/>
      <p:bldP spid="31" grpId="0" animBg="1"/>
      <p:bldP spid="32" grpId="0"/>
      <p:bldP spid="34" grpId="0" animBg="1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43B35-9E90-75CC-B6C4-C294E9966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725697-F400-9E73-B5A0-E167F1F9C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19C9F0-3FD6-EE4B-FAE8-93833FAE97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4C63D05C-C9E3-29CA-2F77-65AB9CD6380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Agent Demo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CB313-513D-EC38-CDAE-B46D72B64ACC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0F4DD29-C9D3-F939-8415-4027B2820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8B9E1F-79AE-ABEC-B3CD-127C7AA9CD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38"/>
          <a:stretch>
            <a:fillRect/>
          </a:stretch>
        </p:blipFill>
        <p:spPr>
          <a:xfrm>
            <a:off x="667878" y="1327094"/>
            <a:ext cx="10495370" cy="402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672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3376A-B13F-4133-F889-833AF19F1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E389F1-1312-8A3D-3977-39D8C459C4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B1B131-D18E-4BB8-C261-CCB7FABA4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2EC696-F1A9-005F-E44F-504A84D54598}"/>
              </a:ext>
            </a:extLst>
          </p:cNvPr>
          <p:cNvSpPr/>
          <p:nvPr/>
        </p:nvSpPr>
        <p:spPr>
          <a:xfrm>
            <a:off x="293914" y="793804"/>
            <a:ext cx="464754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COURSE OUTLINE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12396-DB57-41A7-1B0E-333CBE0D8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773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D41D7-3EF1-50A1-A652-23D8DC2CE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744090-3C16-2C90-8867-0A4213905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CA336A-354A-E28E-FB5B-2076E25D6C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0181953F-319C-0E29-E556-AE29C18DA381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Course Outline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1BE923-81E9-2EA9-1E4C-CB63806F8A62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099C4A-27ED-51FB-57CF-DDA093DA1CE4}"/>
              </a:ext>
            </a:extLst>
          </p:cNvPr>
          <p:cNvSpPr txBox="1"/>
          <p:nvPr/>
        </p:nvSpPr>
        <p:spPr>
          <a:xfrm>
            <a:off x="1921714" y="806591"/>
            <a:ext cx="9192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Check out the course outline “</a:t>
            </a:r>
            <a:r>
              <a:rPr lang="en-US" b="1" i="1" dirty="0"/>
              <a:t>Claude Code - Outline.xlsx</a:t>
            </a:r>
            <a:r>
              <a:rPr lang="en-US" b="1" dirty="0"/>
              <a:t>”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201563-7E9C-5AE5-7BDF-C16E07743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702" y="1459823"/>
            <a:ext cx="4953403" cy="39722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7C740F-218F-7FCB-AB3B-12B478ACF9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7579" y="1459823"/>
            <a:ext cx="6341356" cy="405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486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434C6-3773-6BB5-402E-82C6BED15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767654-D06D-22DE-9271-1B9D109A1C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F2CE0D-C09F-CBE9-478A-95CEBE4ED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925A66-BE68-12C2-079F-D989ECE0C6ED}"/>
              </a:ext>
            </a:extLst>
          </p:cNvPr>
          <p:cNvSpPr/>
          <p:nvPr/>
        </p:nvSpPr>
        <p:spPr>
          <a:xfrm>
            <a:off x="293914" y="793804"/>
            <a:ext cx="464754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COURSE KEY SUCCESS TIPS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719B39-3023-3DCE-DBA3-9D0260E72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12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18E27-A80D-818C-955E-A5A00A202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F2B9FF-24ED-DAAA-A36E-2BA7A95FB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780880-0DF2-FEE1-909F-F7F6513315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854D7286-0A87-4B7B-5516-986D35980AFF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Success Tips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5A659F-23B5-5FE0-6B6E-82FADE60CDFE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65FB9B-CB34-259C-4385-0D7A194617B8}"/>
              </a:ext>
            </a:extLst>
          </p:cNvPr>
          <p:cNvSpPr txBox="1"/>
          <p:nvPr/>
        </p:nvSpPr>
        <p:spPr>
          <a:xfrm>
            <a:off x="722168" y="692498"/>
            <a:ext cx="11167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algn="ctr">
              <a:defRPr sz="2000" b="0">
                <a:solidFill>
                  <a:srgbClr val="D56E48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18" name="Shape 288">
            <a:extLst>
              <a:ext uri="{FF2B5EF4-FFF2-40B4-BE49-F238E27FC236}">
                <a16:creationId xmlns:a16="http://schemas.microsoft.com/office/drawing/2014/main" id="{38C6C87D-6697-104A-7E1E-8BD1CCCDB9ED}"/>
              </a:ext>
            </a:extLst>
          </p:cNvPr>
          <p:cNvSpPr/>
          <p:nvPr/>
        </p:nvSpPr>
        <p:spPr>
          <a:xfrm>
            <a:off x="419587" y="835160"/>
            <a:ext cx="2743200" cy="2743200"/>
          </a:xfrm>
          <a:prstGeom prst="ellipse">
            <a:avLst/>
          </a:prstGeom>
          <a:solidFill>
            <a:srgbClr val="D56E48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marL="0" marR="0" lvl="0" indent="0" algn="ctr" defTabSz="171459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uLnTx/>
                <a:uFillTx/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Learn by Doing!</a:t>
            </a:r>
          </a:p>
        </p:txBody>
      </p:sp>
      <p:sp>
        <p:nvSpPr>
          <p:cNvPr id="19" name="Shape 288">
            <a:extLst>
              <a:ext uri="{FF2B5EF4-FFF2-40B4-BE49-F238E27FC236}">
                <a16:creationId xmlns:a16="http://schemas.microsoft.com/office/drawing/2014/main" id="{37D1F6F3-F113-7358-9AAC-6BC15EA0DAE1}"/>
              </a:ext>
            </a:extLst>
          </p:cNvPr>
          <p:cNvSpPr/>
          <p:nvPr/>
        </p:nvSpPr>
        <p:spPr>
          <a:xfrm>
            <a:off x="3134701" y="2156459"/>
            <a:ext cx="2743200" cy="2743200"/>
          </a:xfrm>
          <a:prstGeom prst="ellipse">
            <a:avLst/>
          </a:prstGeom>
          <a:solidFill>
            <a:srgbClr val="0C175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marL="0" marR="0" lvl="0" indent="0" algn="ctr" defTabSz="171459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uLnTx/>
                <a:uFillTx/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Solve Practice Opportunities</a:t>
            </a:r>
          </a:p>
        </p:txBody>
      </p:sp>
      <p:sp>
        <p:nvSpPr>
          <p:cNvPr id="20" name="Shape 288">
            <a:extLst>
              <a:ext uri="{FF2B5EF4-FFF2-40B4-BE49-F238E27FC236}">
                <a16:creationId xmlns:a16="http://schemas.microsoft.com/office/drawing/2014/main" id="{397AE90D-D0E2-12A6-2FA1-5A72AC921DA2}"/>
              </a:ext>
            </a:extLst>
          </p:cNvPr>
          <p:cNvSpPr/>
          <p:nvPr/>
        </p:nvSpPr>
        <p:spPr>
          <a:xfrm>
            <a:off x="5913876" y="984242"/>
            <a:ext cx="2743200" cy="2743200"/>
          </a:xfrm>
          <a:prstGeom prst="ellipse">
            <a:avLst/>
          </a:prstGeom>
          <a:solidFill>
            <a:srgbClr val="11CCDD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2000" b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Build a Portfolio of Projects</a:t>
            </a:r>
          </a:p>
        </p:txBody>
      </p:sp>
      <p:sp>
        <p:nvSpPr>
          <p:cNvPr id="27" name="Shape 288">
            <a:extLst>
              <a:ext uri="{FF2B5EF4-FFF2-40B4-BE49-F238E27FC236}">
                <a16:creationId xmlns:a16="http://schemas.microsoft.com/office/drawing/2014/main" id="{294752F2-A63F-A72D-E1E8-1DEA8E26DD80}"/>
              </a:ext>
            </a:extLst>
          </p:cNvPr>
          <p:cNvSpPr/>
          <p:nvPr/>
        </p:nvSpPr>
        <p:spPr>
          <a:xfrm>
            <a:off x="8673558" y="2156459"/>
            <a:ext cx="2743200" cy="27432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2000" b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Leverage LinkedIn to share your work &amp; maximize Reach!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5FAA30-814E-CF7B-013D-8FFC3E5541DC}"/>
              </a:ext>
            </a:extLst>
          </p:cNvPr>
          <p:cNvSpPr txBox="1"/>
          <p:nvPr/>
        </p:nvSpPr>
        <p:spPr>
          <a:xfrm>
            <a:off x="980746" y="5771480"/>
            <a:ext cx="80390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LinkedIn Link: </a:t>
            </a:r>
            <a:r>
              <a:rPr lang="en-CA" sz="2400" dirty="0">
                <a:hlinkClick r:id="rId4"/>
              </a:rPr>
              <a:t>https://www.linkedin.com/in/dr-ryan-ahmed/</a:t>
            </a:r>
            <a:endParaRPr lang="en-CA" sz="2400" dirty="0"/>
          </a:p>
          <a:p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651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7" grpId="0" animBg="1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247F0-3A3C-8B88-EA69-47D43DDCE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DEF4C2-BB0F-AA88-0EE5-3FBD43DBB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36C8C8-2CAF-39FC-A646-319B421E24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7C074A5-6CBA-32CC-282E-07343ED3ACD4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Change video Speeds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15D656-A283-9506-DF2A-EECF14A8028A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065E5-E798-47DF-56D1-E83AD6398D16}"/>
              </a:ext>
            </a:extLst>
          </p:cNvPr>
          <p:cNvSpPr txBox="1"/>
          <p:nvPr/>
        </p:nvSpPr>
        <p:spPr>
          <a:xfrm>
            <a:off x="1291488" y="839101"/>
            <a:ext cx="10349952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2000" b="1">
                <a:solidFill>
                  <a:srgbClr val="9D399D"/>
                </a:solidFill>
              </a:defRPr>
            </a:lvl1pPr>
          </a:lstStyle>
          <a:p>
            <a:r>
              <a:rPr lang="en-CA" b="0" dirty="0">
                <a:solidFill>
                  <a:srgbClr val="D56E48"/>
                </a:solidFill>
              </a:rPr>
              <a:t>You have the option to play lectures at different speeds: (.5x, 1x, 1.25x, 1.5x or 2x)</a:t>
            </a:r>
          </a:p>
          <a:p>
            <a:r>
              <a:rPr lang="en-CA" b="0" dirty="0">
                <a:solidFill>
                  <a:srgbClr val="D56E48"/>
                </a:solidFill>
              </a:rPr>
              <a:t>In the bottom-left corner of the video, you can change the speed of the video.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1FCD94-3648-C1A9-E914-5805B52AE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83" y="1872371"/>
            <a:ext cx="8909331" cy="4420954"/>
          </a:xfrm>
          <a:prstGeom prst="rect">
            <a:avLst/>
          </a:prstGeom>
        </p:spPr>
      </p:pic>
      <p:cxnSp>
        <p:nvCxnSpPr>
          <p:cNvPr id="8" name="Curved Connector 8">
            <a:extLst>
              <a:ext uri="{FF2B5EF4-FFF2-40B4-BE49-F238E27FC236}">
                <a16:creationId xmlns:a16="http://schemas.microsoft.com/office/drawing/2014/main" id="{E13A34B6-9750-54FA-378D-C2B635A4C722}"/>
              </a:ext>
            </a:extLst>
          </p:cNvPr>
          <p:cNvCxnSpPr>
            <a:cxnSpLocks/>
          </p:cNvCxnSpPr>
          <p:nvPr/>
        </p:nvCxnSpPr>
        <p:spPr>
          <a:xfrm flipV="1">
            <a:off x="1922667" y="1546987"/>
            <a:ext cx="2251812" cy="2183349"/>
          </a:xfrm>
          <a:prstGeom prst="curvedConnector3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70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32CA7-FB1E-E80C-23B3-C62B1622A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919486-E985-D288-01CC-1A527B9B8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4EADD7-546E-E711-21BC-76554441EF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D67EB65B-24C7-7964-AB41-10DE50C8823D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How do you get the Certificate of Completion?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219189-F15B-42FC-A127-B732E92A48BB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E343C2-8414-8CF9-304A-2DF3F4D960C5}"/>
              </a:ext>
            </a:extLst>
          </p:cNvPr>
          <p:cNvSpPr/>
          <p:nvPr/>
        </p:nvSpPr>
        <p:spPr>
          <a:xfrm>
            <a:off x="152399" y="798103"/>
            <a:ext cx="117745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tx1"/>
                </a:solidFill>
                <a:latin typeface="Montserrat" charset="0"/>
              </a:rPr>
              <a:t>When you complete all course modules, you will receive a certificate of completion.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C204A8-05E4-CA33-B11C-7FDE450366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444"/>
          <a:stretch/>
        </p:blipFill>
        <p:spPr>
          <a:xfrm>
            <a:off x="947751" y="1367112"/>
            <a:ext cx="4303733" cy="3185681"/>
          </a:xfrm>
          <a:prstGeom prst="rect">
            <a:avLst/>
          </a:prstGeom>
          <a:ln w="5715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2A5DF8-CC6D-F72D-3B19-80F8F9DE0D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350257"/>
            <a:ext cx="4303733" cy="3185681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358511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B9C3-24AD-5FD3-C3FA-F1397942B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B06554-AE15-0D10-F4A1-231E952E9F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BED5AE-AF7A-6C6F-E9E9-9B5868D70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80EA5E-E1D9-D73A-9E1D-99B857D5E837}"/>
              </a:ext>
            </a:extLst>
          </p:cNvPr>
          <p:cNvSpPr/>
          <p:nvPr/>
        </p:nvSpPr>
        <p:spPr>
          <a:xfrm>
            <a:off x="293914" y="793804"/>
            <a:ext cx="464754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STATE OF AGENTIC AI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278C6-820C-C6B7-CC22-7D21BC085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89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2CFA2-BD2E-F57F-DD51-64E5B97F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925F58-B47E-35F2-1DBC-DFBA0F573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425897-584C-BF0A-E016-C5F9FC574E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918C1E-20E7-4595-F6EA-CD0425805354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7605B-DCA1-EE8B-9853-0A9AA10F57C4}"/>
              </a:ext>
            </a:extLst>
          </p:cNvPr>
          <p:cNvSpPr txBox="1"/>
          <p:nvPr/>
        </p:nvSpPr>
        <p:spPr>
          <a:xfrm>
            <a:off x="217551" y="2252992"/>
            <a:ext cx="11018860" cy="8042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 algn="ctr">
              <a:buClrTx/>
              <a:buNone/>
            </a:pPr>
            <a:r>
              <a:rPr lang="en-US" sz="2800" b="1" i="1" dirty="0"/>
              <a:t>"6 months ago, building a website took a developer ~1–2 days.</a:t>
            </a:r>
          </a:p>
          <a:p>
            <a:pPr marL="0" indent="0" algn="ctr">
              <a:buClrTx/>
              <a:buNone/>
            </a:pPr>
            <a:r>
              <a:rPr lang="en-US" sz="2800" b="1" i="1" dirty="0"/>
              <a:t>Today, a team of AI agents designs, builds, tests, and deploys it in 10 minutes."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51D7F6F-2188-D8B3-A493-C1E31DA1F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533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51A83-206D-64DF-F6AA-49776713F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03D1E9-17C5-5859-016D-EA26BBF68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95F4BB-6309-70F7-0D2B-581EC00077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C866DE-AE94-0891-BE09-7D7421709FC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E9229D4-7585-7128-4139-1BE02921E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380DE8-8EC9-79E2-7D55-BD7713FED87F}"/>
              </a:ext>
            </a:extLst>
          </p:cNvPr>
          <p:cNvSpPr txBox="1"/>
          <p:nvPr/>
        </p:nvSpPr>
        <p:spPr>
          <a:xfrm>
            <a:off x="205947" y="70449"/>
            <a:ext cx="6128950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defRPr>
            </a:lvl1pPr>
          </a:lstStyle>
          <a:p>
            <a:r>
              <a:rPr lang="en-US" dirty="0"/>
              <a:t>AI Can Now Work a Full Shift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82C74-53B4-3C0A-9784-01FA5660B620}"/>
              </a:ext>
            </a:extLst>
          </p:cNvPr>
          <p:cNvSpPr txBox="1"/>
          <p:nvPr/>
        </p:nvSpPr>
        <p:spPr>
          <a:xfrm>
            <a:off x="1487250" y="6129634"/>
            <a:ext cx="88594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Source: </a:t>
            </a:r>
            <a:r>
              <a:rPr lang="en-CA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https://metr.org/blog/2025-03-19-measuring-ai-ability-to-complete-long-tasks/</a:t>
            </a:r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A200C4-F250-6991-3D89-A18E6486F5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739"/>
          <a:stretch>
            <a:fillRect/>
          </a:stretch>
        </p:blipFill>
        <p:spPr>
          <a:xfrm>
            <a:off x="1243523" y="995507"/>
            <a:ext cx="8927269" cy="486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34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337AB-C983-F140-C423-74E05969F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5AC794-9A08-186B-13C8-465B5306C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B1B5F2-2819-C511-3923-16E91C6D35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5163B9-854E-7219-9BC0-23D598E71AAB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978D32-031D-51AA-8F39-DEFDC0D5F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23E46-AE9F-B31F-3B52-986D0B6E94F0}"/>
              </a:ext>
            </a:extLst>
          </p:cNvPr>
          <p:cNvSpPr txBox="1"/>
          <p:nvPr/>
        </p:nvSpPr>
        <p:spPr>
          <a:xfrm>
            <a:off x="205946" y="70449"/>
            <a:ext cx="9222907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defRPr>
            </a:lvl1pPr>
          </a:lstStyle>
          <a:p>
            <a:r>
              <a:rPr lang="en-US" dirty="0"/>
              <a:t>White Collar Work is Being Rewritten by AI Agents</a:t>
            </a:r>
            <a:endParaRPr lang="en-CA" dirty="0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DBA440DB-2735-0E18-E2E4-260E9341DA98}"/>
              </a:ext>
            </a:extLst>
          </p:cNvPr>
          <p:cNvSpPr/>
          <p:nvPr/>
        </p:nvSpPr>
        <p:spPr>
          <a:xfrm>
            <a:off x="620733" y="1818665"/>
            <a:ext cx="3169920" cy="4267200"/>
          </a:xfrm>
          <a:prstGeom prst="roundRect">
            <a:avLst>
              <a:gd name="adj" fmla="val 3846"/>
            </a:avLst>
          </a:prstGeom>
          <a:solidFill>
            <a:srgbClr val="151515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CD754072-988B-1092-6090-5D92AE5D2137}"/>
              </a:ext>
            </a:extLst>
          </p:cNvPr>
          <p:cNvSpPr/>
          <p:nvPr/>
        </p:nvSpPr>
        <p:spPr>
          <a:xfrm>
            <a:off x="620733" y="1818665"/>
            <a:ext cx="3169920" cy="73152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2F7F0DD5-DDB8-4BB7-8058-F461476A468B}"/>
              </a:ext>
            </a:extLst>
          </p:cNvPr>
          <p:cNvSpPr/>
          <p:nvPr/>
        </p:nvSpPr>
        <p:spPr>
          <a:xfrm>
            <a:off x="864573" y="206250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888888"/>
                </a:solidFill>
                <a:latin typeface="Montserrat" panose="00000500000000000000" pitchFamily="2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4800" dirty="0">
              <a:latin typeface="Montserrat" panose="00000500000000000000" pitchFamily="2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FAB6C2EA-D616-219F-0842-38769FFD9E1E}"/>
              </a:ext>
            </a:extLst>
          </p:cNvPr>
          <p:cNvSpPr/>
          <p:nvPr/>
        </p:nvSpPr>
        <p:spPr>
          <a:xfrm>
            <a:off x="864573" y="2733065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AAAAA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Manual Era</a:t>
            </a:r>
            <a:endParaRPr lang="en-US" sz="1867" dirty="0">
              <a:latin typeface="Montserrat" panose="00000500000000000000" pitchFamily="2" charset="0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5C51776C-ABEF-0F5A-AF32-B9CCDCEB1434}"/>
              </a:ext>
            </a:extLst>
          </p:cNvPr>
          <p:cNvSpPr/>
          <p:nvPr/>
        </p:nvSpPr>
        <p:spPr>
          <a:xfrm>
            <a:off x="864573" y="3281705"/>
            <a:ext cx="26822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A4312AF4-12E4-89F0-883C-8746A9CAC7D5}"/>
              </a:ext>
            </a:extLst>
          </p:cNvPr>
          <p:cNvSpPr/>
          <p:nvPr/>
        </p:nvSpPr>
        <p:spPr>
          <a:xfrm>
            <a:off x="864573" y="352554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AAAAA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733" dirty="0">
              <a:latin typeface="Montserrat" panose="00000500000000000000" pitchFamily="2" charset="0"/>
            </a:endParaRPr>
          </a:p>
          <a:p>
            <a:r>
              <a:rPr lang="en-US" sz="1467" dirty="0">
                <a:solidFill>
                  <a:srgbClr val="777777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per deliverable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BF0A8A99-B259-DFA5-B8D1-98C3480F03DA}"/>
              </a:ext>
            </a:extLst>
          </p:cNvPr>
          <p:cNvSpPr/>
          <p:nvPr/>
        </p:nvSpPr>
        <p:spPr>
          <a:xfrm>
            <a:off x="864573" y="4318025"/>
            <a:ext cx="29260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AAAAA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Developers do the work</a:t>
            </a:r>
            <a:endParaRPr lang="en-US" sz="1733" dirty="0">
              <a:latin typeface="Montserrat" panose="00000500000000000000" pitchFamily="2" charset="0"/>
            </a:endParaRPr>
          </a:p>
          <a:p>
            <a:r>
              <a:rPr lang="en-US" sz="1467" dirty="0">
                <a:solidFill>
                  <a:srgbClr val="777777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HTML, CSS, JS, debugging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87A54153-EAA7-756B-8E19-1EBDB511BC8C}"/>
              </a:ext>
            </a:extLst>
          </p:cNvPr>
          <p:cNvSpPr/>
          <p:nvPr/>
        </p:nvSpPr>
        <p:spPr>
          <a:xfrm>
            <a:off x="864573" y="5110505"/>
            <a:ext cx="29260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AAAAA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Outputs </a:t>
            </a:r>
          </a:p>
          <a:p>
            <a:r>
              <a:rPr lang="en-US" sz="1470" dirty="0">
                <a:solidFill>
                  <a:srgbClr val="AAAAA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Static sites, custom builds</a:t>
            </a:r>
            <a:endParaRPr lang="en-US" sz="1470" dirty="0">
              <a:latin typeface="Montserrat" panose="00000500000000000000" pitchFamily="2" charset="0"/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9BC48923-41C3-C0B1-BE1F-1BA927C78694}"/>
              </a:ext>
            </a:extLst>
          </p:cNvPr>
          <p:cNvSpPr/>
          <p:nvPr/>
        </p:nvSpPr>
        <p:spPr>
          <a:xfrm>
            <a:off x="4476453" y="1818665"/>
            <a:ext cx="3169920" cy="4267200"/>
          </a:xfrm>
          <a:prstGeom prst="roundRect">
            <a:avLst>
              <a:gd name="adj" fmla="val 3846"/>
            </a:avLst>
          </a:prstGeom>
          <a:solidFill>
            <a:srgbClr val="151515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CD28A4F8-9268-46FB-801F-706BD8BA2684}"/>
              </a:ext>
            </a:extLst>
          </p:cNvPr>
          <p:cNvSpPr/>
          <p:nvPr/>
        </p:nvSpPr>
        <p:spPr>
          <a:xfrm>
            <a:off x="4476453" y="1818665"/>
            <a:ext cx="3169920" cy="73152"/>
          </a:xfrm>
          <a:prstGeom prst="rect">
            <a:avLst/>
          </a:prstGeom>
          <a:solidFill>
            <a:srgbClr val="4A9E4A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692CF0EF-64EA-DC83-36AF-EB72C29F7242}"/>
              </a:ext>
            </a:extLst>
          </p:cNvPr>
          <p:cNvSpPr/>
          <p:nvPr/>
        </p:nvSpPr>
        <p:spPr>
          <a:xfrm>
            <a:off x="4720293" y="206250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4A9E4A"/>
                </a:solidFill>
                <a:latin typeface="Montserrat" panose="00000500000000000000" pitchFamily="2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4800" dirty="0">
              <a:latin typeface="Montserrat" panose="00000500000000000000" pitchFamily="2" charset="0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FD06CC6E-419F-F3DF-E498-D6ED2F849A21}"/>
              </a:ext>
            </a:extLst>
          </p:cNvPr>
          <p:cNvSpPr/>
          <p:nvPr/>
        </p:nvSpPr>
        <p:spPr>
          <a:xfrm>
            <a:off x="4720293" y="2733065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CCCCC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AI-Assisted Era</a:t>
            </a:r>
            <a:endParaRPr lang="en-US" sz="1867" dirty="0">
              <a:latin typeface="Montserrat" panose="00000500000000000000" pitchFamily="2" charset="0"/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08EE62B0-09F5-6672-CA5C-787D7DCA00EB}"/>
              </a:ext>
            </a:extLst>
          </p:cNvPr>
          <p:cNvSpPr/>
          <p:nvPr/>
        </p:nvSpPr>
        <p:spPr>
          <a:xfrm>
            <a:off x="4720293" y="3281705"/>
            <a:ext cx="26822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361ADA56-C125-0861-7369-A1588A8FE118}"/>
              </a:ext>
            </a:extLst>
          </p:cNvPr>
          <p:cNvSpPr/>
          <p:nvPr/>
        </p:nvSpPr>
        <p:spPr>
          <a:xfrm>
            <a:off x="4720293" y="352554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CCCCC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733" dirty="0">
              <a:latin typeface="Montserrat" panose="00000500000000000000" pitchFamily="2" charset="0"/>
            </a:endParaRPr>
          </a:p>
          <a:p>
            <a:r>
              <a:rPr lang="en-US" sz="1467" dirty="0">
                <a:solidFill>
                  <a:srgbClr val="777777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per deliverable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85D60728-8012-0A77-16AB-BD98B28E5003}"/>
              </a:ext>
            </a:extLst>
          </p:cNvPr>
          <p:cNvSpPr/>
          <p:nvPr/>
        </p:nvSpPr>
        <p:spPr>
          <a:xfrm>
            <a:off x="4720293" y="4318025"/>
            <a:ext cx="30251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CCCCC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Developers use AI</a:t>
            </a:r>
            <a:endParaRPr lang="en-US" sz="1733" dirty="0">
              <a:latin typeface="Montserrat" panose="00000500000000000000" pitchFamily="2" charset="0"/>
            </a:endParaRPr>
          </a:p>
          <a:p>
            <a:r>
              <a:rPr lang="en-US" sz="1467" dirty="0" err="1">
                <a:solidFill>
                  <a:srgbClr val="777777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Copilot, ChatGPT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13EF4958-AF0A-DF80-10B0-F824B6CC310C}"/>
              </a:ext>
            </a:extLst>
          </p:cNvPr>
          <p:cNvSpPr/>
          <p:nvPr/>
        </p:nvSpPr>
        <p:spPr>
          <a:xfrm>
            <a:off x="4720293" y="511050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CCCCC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Outputs accelerate</a:t>
            </a:r>
          </a:p>
          <a:p>
            <a:r>
              <a:rPr lang="en-US" sz="1467" dirty="0">
                <a:solidFill>
                  <a:srgbClr val="777777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Templates, faster builds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33B8660B-DB1D-4FD1-12D1-4AD6D55E88FC}"/>
              </a:ext>
            </a:extLst>
          </p:cNvPr>
          <p:cNvSpPr/>
          <p:nvPr/>
        </p:nvSpPr>
        <p:spPr>
          <a:xfrm>
            <a:off x="8482627" y="1818665"/>
            <a:ext cx="3169920" cy="4267200"/>
          </a:xfrm>
          <a:prstGeom prst="roundRect">
            <a:avLst>
              <a:gd name="adj" fmla="val 3846"/>
            </a:avLst>
          </a:prstGeom>
          <a:solidFill>
            <a:srgbClr val="151515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64436197-533A-8918-7B93-D8618BF70336}"/>
              </a:ext>
            </a:extLst>
          </p:cNvPr>
          <p:cNvSpPr/>
          <p:nvPr/>
        </p:nvSpPr>
        <p:spPr>
          <a:xfrm>
            <a:off x="8482627" y="1818665"/>
            <a:ext cx="3169920" cy="73152"/>
          </a:xfrm>
          <a:prstGeom prst="rect">
            <a:avLst/>
          </a:prstGeom>
          <a:solidFill>
            <a:srgbClr val="7FFF00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3846050C-06D2-D55D-06C6-91880AB6B8BD}"/>
              </a:ext>
            </a:extLst>
          </p:cNvPr>
          <p:cNvSpPr/>
          <p:nvPr/>
        </p:nvSpPr>
        <p:spPr>
          <a:xfrm>
            <a:off x="8726467" y="2062505"/>
            <a:ext cx="332257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7FFF00"/>
                </a:solidFill>
                <a:latin typeface="Montserrat" panose="00000500000000000000" pitchFamily="2" charset="0"/>
                <a:ea typeface="Georgia" pitchFamily="34" charset="-122"/>
                <a:cs typeface="Georgia" pitchFamily="34" charset="-120"/>
              </a:rPr>
              <a:t>2026-2027</a:t>
            </a:r>
            <a:endParaRPr lang="en-US" sz="4000" dirty="0">
              <a:latin typeface="Montserrat" panose="00000500000000000000" pitchFamily="2" charset="0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275E6B80-DCB8-6C27-318E-4278C2482BBC}"/>
              </a:ext>
            </a:extLst>
          </p:cNvPr>
          <p:cNvSpPr/>
          <p:nvPr/>
        </p:nvSpPr>
        <p:spPr>
          <a:xfrm>
            <a:off x="8726467" y="2733065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Agentic Era </a:t>
            </a:r>
            <a:endParaRPr lang="en-US" sz="1867" dirty="0">
              <a:latin typeface="Montserrat" panose="00000500000000000000" pitchFamily="2" charset="0"/>
            </a:endParaRPr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D47E72BE-555E-7C3B-C4A2-8E60CA6E4F33}"/>
              </a:ext>
            </a:extLst>
          </p:cNvPr>
          <p:cNvSpPr/>
          <p:nvPr/>
        </p:nvSpPr>
        <p:spPr>
          <a:xfrm>
            <a:off x="8726467" y="3281705"/>
            <a:ext cx="26822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1C0EC4C4-D3C1-D0F6-AC51-C10357FE9211}"/>
              </a:ext>
            </a:extLst>
          </p:cNvPr>
          <p:cNvSpPr/>
          <p:nvPr/>
        </p:nvSpPr>
        <p:spPr>
          <a:xfrm>
            <a:off x="8726467" y="352554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733" dirty="0">
              <a:latin typeface="Montserrat" panose="00000500000000000000" pitchFamily="2" charset="0"/>
            </a:endParaRPr>
          </a:p>
          <a:p>
            <a:r>
              <a:rPr lang="en-US" sz="1467" dirty="0">
                <a:solidFill>
                  <a:srgbClr val="777777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per deliverable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B211DB19-B830-2DFF-3710-C5833DA116A4}"/>
              </a:ext>
            </a:extLst>
          </p:cNvPr>
          <p:cNvSpPr/>
          <p:nvPr/>
        </p:nvSpPr>
        <p:spPr>
          <a:xfrm>
            <a:off x="8726467" y="4318025"/>
            <a:ext cx="29260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AI Agents run workflows</a:t>
            </a:r>
            <a:endParaRPr lang="en-US" sz="1733" dirty="0">
              <a:latin typeface="Montserrat" panose="00000500000000000000" pitchFamily="2" charset="0"/>
            </a:endParaRPr>
          </a:p>
          <a:p>
            <a:r>
              <a:rPr lang="en-US" sz="1467" dirty="0">
                <a:solidFill>
                  <a:srgbClr val="777777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Design → Code → Test → Deploy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29146474-400C-6540-96E3-F163BC2AC67D}"/>
              </a:ext>
            </a:extLst>
          </p:cNvPr>
          <p:cNvSpPr/>
          <p:nvPr/>
        </p:nvSpPr>
        <p:spPr>
          <a:xfrm>
            <a:off x="8726467" y="511050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End-to-end:</a:t>
            </a:r>
            <a:endParaRPr lang="en-US" sz="1733" dirty="0">
              <a:latin typeface="Montserrat" panose="00000500000000000000" pitchFamily="2" charset="0"/>
            </a:endParaRPr>
          </a:p>
          <a:p>
            <a:r>
              <a:rPr lang="en-US" sz="1467" dirty="0">
                <a:solidFill>
                  <a:srgbClr val="777777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Prompt → Live Website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8BB34438-5794-1857-29E8-0920ED1DD903}"/>
              </a:ext>
            </a:extLst>
          </p:cNvPr>
          <p:cNvSpPr/>
          <p:nvPr/>
        </p:nvSpPr>
        <p:spPr>
          <a:xfrm>
            <a:off x="3889713" y="3703684"/>
            <a:ext cx="487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7FFF00"/>
                </a:solidFill>
                <a:latin typeface="Montserrat" panose="00000500000000000000" pitchFamily="2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>
              <a:latin typeface="Montserrat" panose="00000500000000000000" pitchFamily="2" charset="0"/>
            </a:endParaRPr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FE84762E-397B-889F-3850-F3C629AA7C35}"/>
              </a:ext>
            </a:extLst>
          </p:cNvPr>
          <p:cNvSpPr/>
          <p:nvPr/>
        </p:nvSpPr>
        <p:spPr>
          <a:xfrm>
            <a:off x="7820660" y="3703684"/>
            <a:ext cx="487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7FFF00"/>
                </a:solidFill>
                <a:latin typeface="Montserrat" panose="00000500000000000000" pitchFamily="2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>
              <a:latin typeface="Montserrat" panose="00000500000000000000" pitchFamily="2" charset="0"/>
            </a:endParaRPr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26D1B25D-C3E1-58DF-A115-CE4BF9DFE7FB}"/>
              </a:ext>
            </a:extLst>
          </p:cNvPr>
          <p:cNvSpPr/>
          <p:nvPr/>
        </p:nvSpPr>
        <p:spPr>
          <a:xfrm>
            <a:off x="205946" y="974428"/>
            <a:ext cx="11388068" cy="609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80990" indent="-380990">
              <a:lnSpc>
                <a:spcPct val="90000"/>
              </a:lnSpc>
              <a:spcBef>
                <a:spcPts val="1333"/>
              </a:spcBef>
              <a:buClr>
                <a:srgbClr val="02291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We’re moving from developers writing every line of code to AI agents designing, building, and deploying full websites and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65284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EC216-1076-8B9E-4EBA-42983FA7B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6C403-6391-D567-C085-2CA37BCB5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56EB66-936B-8628-6C85-CBFD1CE65E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4B67642-69A2-E57E-DAB7-3B8A716F06D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AI Jobs Exposure &amp; You are Very Early!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90F6B9-BC69-8F9A-3181-2C17B0E264E6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ED04DDE-3319-801D-24D6-C7B470612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1E1078-0023-2417-637D-CE3700C3B86B}"/>
              </a:ext>
            </a:extLst>
          </p:cNvPr>
          <p:cNvSpPr txBox="1"/>
          <p:nvPr/>
        </p:nvSpPr>
        <p:spPr>
          <a:xfrm>
            <a:off x="5406471" y="6180827"/>
            <a:ext cx="63683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solidFill>
                  <a:srgbClr val="022911"/>
                </a:solidFill>
              </a:rPr>
              <a:t>Source: </a:t>
            </a:r>
            <a:r>
              <a:rPr lang="en-CA" sz="1200" dirty="0">
                <a:solidFill>
                  <a:srgbClr val="02291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https://www.anthropic.com/research/labor-market-impacts</a:t>
            </a:r>
            <a:endParaRPr lang="en-CA" sz="1200" dirty="0">
              <a:solidFill>
                <a:srgbClr val="022911"/>
              </a:solidFill>
            </a:endParaRPr>
          </a:p>
          <a:p>
            <a:endParaRPr lang="en-CA" sz="1200" dirty="0">
              <a:solidFill>
                <a:schemeClr val="bg1"/>
              </a:solidFill>
            </a:endParaRPr>
          </a:p>
          <a:p>
            <a:endParaRPr lang="en-CA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26BFE7-9B9F-9428-7C24-CCA4DE7B0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539" y="907669"/>
            <a:ext cx="5152121" cy="5152121"/>
          </a:xfrm>
          <a:prstGeom prst="rect">
            <a:avLst/>
          </a:prstGeom>
        </p:spPr>
      </p:pic>
      <p:pic>
        <p:nvPicPr>
          <p:cNvPr id="10" name="Picture 4" descr="table">
            <a:extLst>
              <a:ext uri="{FF2B5EF4-FFF2-40B4-BE49-F238E27FC236}">
                <a16:creationId xmlns:a16="http://schemas.microsoft.com/office/drawing/2014/main" id="{10E0BC56-58BB-8E77-C6A0-FEB49E99C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33818"/>
            <a:ext cx="4895222" cy="521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53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F3812-74CF-3093-5ABB-250ECBD78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1AE6BA-536B-674B-EA93-F739814B94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524420-9B7D-E677-F3E7-0F96C1345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2BF2CC-E52B-C815-59A6-6EFABB503155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923249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6220</TotalTime>
  <Words>561</Words>
  <Application>Microsoft Office PowerPoint</Application>
  <PresentationFormat>Widescreen</PresentationFormat>
  <Paragraphs>83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537</cp:revision>
  <dcterms:created xsi:type="dcterms:W3CDTF">2019-11-18T17:58:36Z</dcterms:created>
  <dcterms:modified xsi:type="dcterms:W3CDTF">2026-04-08T18:32:25Z</dcterms:modified>
</cp:coreProperties>
</file>